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82296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601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E86AB"/>
                </a:solidFill>
                <a:latin typeface="Calibri"/>
              </a:rPr>
              <a:t>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Calibri"/>
              </a:rPr>
              <a:t>CampaignPulse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D6EAF8"/>
                </a:solidFill>
                <a:latin typeface="Calibri"/>
              </a:rPr>
              <a:t>Marketing Campaign ROI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BD7EA"/>
                </a:solidFill>
                <a:latin typeface="Calibri"/>
              </a:rPr>
              <a:t>Data-Driven Insights for Marketing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C5DD"/>
                </a:solidFill>
                <a:latin typeface="Calibri"/>
              </a:rPr>
              <a:t>Amit Kumar Jha  ·  Data Analyst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C5DD"/>
                </a:solidFill>
                <a:latin typeface="Calibri"/>
              </a:rPr>
              <a:t>September 2026  ·  github.com/AmitKumarJha-ds/marketing-campaign-roi-analytics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080760"/>
            <a:ext cx="1874519" cy="384048"/>
          </a:xfrm>
          <a:prstGeom prst="rect">
            <a:avLst/>
          </a:prstGeom>
          <a:solidFill>
            <a:srgbClr val="44B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14476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6080760"/>
            <a:ext cx="1874519" cy="3840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614476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080760"/>
            <a:ext cx="1874519" cy="3840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14476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Tableau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6080760"/>
            <a:ext cx="187451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614476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E86AB"/>
                </a:solidFill>
                <a:latin typeface="Calibri"/>
              </a:rPr>
              <a:t>9,995 Campaigns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3716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Portfolio performance in five numbers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37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013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Project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8288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Objectives, methodology and tooling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402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951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2585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Business Problems Addressed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2860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The 15 questions this project answers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523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7157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Dataset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7432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9,995 campaigns, 41 features, 2022–2024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1546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095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1729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Campaign Type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2004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Retention 204% vs Brand Awareness −51%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6118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667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6301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Channel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6576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SEO, Email and Affiliate lead the ROI table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690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23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0873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Budget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1148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Diminishing returns to 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5262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5811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5445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Geographic &amp; Audience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5720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Where and who to invest 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9834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0383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0017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Seasonal Trends &amp; Top Campaigns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50292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Timing and what winners look like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4406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4955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4589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Key Findings &amp; Recommendations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4864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10 findings, 8 actions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897880"/>
            <a:ext cx="45720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9527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9161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3436"/>
                </a:solidFill>
                <a:latin typeface="Calibri"/>
              </a:rPr>
              <a:t>Dashboard Preview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59436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36E72"/>
                </a:solidFill>
                <a:latin typeface="Calibri"/>
              </a:rPr>
              <a:t>The four Tableau dashboards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Portfolio performance across 9,995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2076236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E86AB"/>
                </a:solidFill>
                <a:latin typeface="Calibri"/>
              </a:rPr>
              <a:t>$388.9M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0324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0324" y="1234440"/>
            <a:ext cx="2076236" cy="6400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0324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TOTAL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0324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A23B72"/>
                </a:solidFill>
                <a:latin typeface="Calibri"/>
              </a:rPr>
              <a:t>$198.4M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7728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7728" y="1234440"/>
            <a:ext cx="2076236" cy="64008"/>
          </a:xfrm>
          <a:prstGeom prst="rect">
            <a:avLst/>
          </a:prstGeom>
          <a:solidFill>
            <a:srgbClr val="44B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7728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OVERALL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7728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4BBA4"/>
                </a:solidFill>
                <a:latin typeface="Calibri"/>
              </a:rPr>
              <a:t>96.0%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5132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35132" y="1234440"/>
            <a:ext cx="2076236" cy="6400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5132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TOTAL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5132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18F01"/>
                </a:solidFill>
                <a:latin typeface="Calibri"/>
              </a:rPr>
              <a:t>$190.5M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2536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12536" y="1234440"/>
            <a:ext cx="2076236" cy="6400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2536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AVG CAC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2536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73E1D"/>
                </a:solidFill>
                <a:latin typeface="Calibri"/>
              </a:rPr>
              <a:t>$266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560320"/>
            <a:ext cx="1106424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2E86AB"/>
                </a:solidFill>
              </a:rPr>
              <a:t>▪  </a:t>
            </a:r>
            <a:r>
              <a:rPr sz="1500">
                <a:solidFill>
                  <a:srgbClr val="2D3436"/>
                </a:solidFill>
              </a:rPr>
              <a:t>The portfolio generated $388.9M of revenue from $198.4M of spend — a blended ROI of 96.0% and $190.5M of profit across 9,995 campaigns.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2E86AB"/>
                </a:solidFill>
              </a:rPr>
              <a:t>▪  </a:t>
            </a:r>
            <a:r>
              <a:rPr sz="1500">
                <a:solidFill>
                  <a:srgbClr val="2D3436"/>
                </a:solidFill>
              </a:rPr>
              <a:t>Retention campaigns are the standout performer at 203.9% average ROI; Brand Awareness is the only value-destroying type at −50.8% — only 10.8% of its campaigns are profitable.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2E86AB"/>
                </a:solidFill>
              </a:rPr>
              <a:t>▪  </a:t>
            </a:r>
            <a:r>
              <a:rPr sz="1500">
                <a:solidFill>
                  <a:srgbClr val="2D3436"/>
                </a:solidFill>
              </a:rPr>
              <a:t>SEO (191.7%), Email (185.8%) and Affiliate (185.4%) are the most efficient channels; Instagram Ads (23.1%) and Social Media (24.1%) the least.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2E86AB"/>
                </a:solidFill>
              </a:rPr>
              <a:t>▪  </a:t>
            </a:r>
            <a:r>
              <a:rPr sz="1500">
                <a:solidFill>
                  <a:srgbClr val="2D3436"/>
                </a:solidFill>
              </a:rPr>
              <a:t>46.6% of campaigns lose money — 4,660 campaigns consuming $86.2M of spend with no return.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2E86AB"/>
                </a:solidFill>
              </a:rPr>
              <a:t>▪  </a:t>
            </a:r>
            <a:r>
              <a:rPr sz="1500">
                <a:solidFill>
                  <a:srgbClr val="2D3436"/>
                </a:solidFill>
              </a:rPr>
              <a:t>Budget elasticity of revenue is ≈ 0.70 — clear diminishing returns; bigger budgets do not buy bigger returns.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2E86AB"/>
                </a:solidFill>
              </a:rPr>
              <a:t>▪  </a:t>
            </a:r>
            <a:r>
              <a:rPr sz="1500">
                <a:solidFill>
                  <a:srgbClr val="2D3436"/>
                </a:solidFill>
              </a:rPr>
              <a:t>Efficiency has been flat for three years (98.8% → 92.1% → 97.1%) while CAC climbed from $261 to $270 — a productivity problem, not a volume problem.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Objectives, methodology and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611880" cy="484632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11880" cy="4572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74519"/>
            <a:ext cx="320040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Quantify ROI by campaign type, channel, region and audience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Identify the loss-making cohort and its root causes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Establish whether scale creates or destroys returns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Deliver an auditable, reproducible analytics pipeline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Produce dashboards and reports for executive decisions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1234440"/>
            <a:ext cx="3611880" cy="484632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6824" y="1234440"/>
            <a:ext cx="3611880" cy="4572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32588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74519"/>
            <a:ext cx="320040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Ingest the raw extract and profile every column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Repair missing values, duplicates, negatives and broken dates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Recompute all derived KPIs from cleaned base metrics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Winsorise outliers, then engineer 14 analytical features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Validate with 12 automated data-quality gates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Analyse in Python, verify in SQL, visualise in Tableau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0728" y="1234440"/>
            <a:ext cx="3611880" cy="484632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0728" y="1234440"/>
            <a:ext cx="3611880" cy="4572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132588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TOOLS &amp; 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74519"/>
            <a:ext cx="320040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Python — pandas, NumPy, matplotlib, seaborn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Jupyter — 2 executed notebooks, 49 + 47 cells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MySQL 8 — 73 validated statements across 3 scripts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Tableau — 4 interactive dashboards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PowerPoint / PDF — executive deliverables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Business Problems Addressed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The questions this project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8074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Which marketing campaigns deliver the highest ROI?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9384"/>
            <a:ext cx="384048" cy="3840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842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How do different channels compare in cost-efficiency?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9689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877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What is the optimal budget allocation across campaign types?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36392"/>
            <a:ext cx="384048" cy="3840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9125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Which geographic regions respond best to marketing efforts?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0390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7947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What is the ideal campaign duration for maximum ROI?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074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9826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Which target audience segments are most profitable?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46904"/>
            <a:ext cx="384048" cy="3840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1091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0017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How do seasonal patterns affect campaign performance?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50408"/>
            <a:ext cx="384048" cy="3840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60527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What is the relationship between budget size and success?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3898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138074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Which campaigns should be scaled up, paused or discontinued?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929384"/>
            <a:ext cx="384048" cy="3840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99339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19842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What is the customer acquisition cost trend across channels?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532888"/>
            <a:ext cx="384048" cy="3840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59689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5877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How has marketing efficiency evolved over three years?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136392"/>
            <a:ext cx="384048" cy="3840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20040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19125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Which channel + audience + type combination yields the highest returns?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739896"/>
            <a:ext cx="384048" cy="3840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80390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7947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Are there diminishing returns as campaign budgets increase?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343400"/>
            <a:ext cx="384048" cy="3840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44074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39826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What distinguishes top performers from underperformers?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946904"/>
            <a:ext cx="384048" cy="3840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501091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0017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D3436"/>
                </a:solidFill>
                <a:latin typeface="Calibri"/>
              </a:rPr>
              <a:t>How can the company optimise spend to maximise ROI?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Dimensions, time period, features and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2076236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CAMPAIGNS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E86AB"/>
                </a:solidFill>
                <a:latin typeface="Calibri"/>
              </a:rPr>
              <a:t>9,995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0324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0324" y="1234440"/>
            <a:ext cx="2076236" cy="6400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0324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0324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A23B72"/>
                </a:solidFill>
                <a:latin typeface="Calibri"/>
              </a:rPr>
              <a:t>41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7728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7728" y="1234440"/>
            <a:ext cx="2076236" cy="6400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7728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7728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18F01"/>
                </a:solidFill>
                <a:latin typeface="Calibri"/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5132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35132" y="1234440"/>
            <a:ext cx="2076236" cy="64008"/>
          </a:xfrm>
          <a:prstGeom prst="rect">
            <a:avLst/>
          </a:prstGeom>
          <a:solidFill>
            <a:srgbClr val="44B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5132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REGIONS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5132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4BBA4"/>
                </a:solidFill>
                <a:latin typeface="Calibri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2536" y="1234440"/>
            <a:ext cx="20762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12536" y="1234440"/>
            <a:ext cx="2076236" cy="6400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2536" y="1362456"/>
            <a:ext cx="2076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PERIOD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2536" y="1636776"/>
            <a:ext cx="20762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73E1D"/>
                </a:solidFill>
                <a:latin typeface="Calibri"/>
              </a:rPr>
              <a:t>2022–2024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514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86AB"/>
                </a:solidFill>
                <a:latin typeface="Calibri"/>
              </a:rPr>
              <a:t>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34640"/>
            <a:ext cx="54864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2E86AB"/>
                </a:solidFill>
              </a:rPr>
              <a:t>▪  </a:t>
            </a:r>
            <a:r>
              <a:rPr sz="1300">
                <a:solidFill>
                  <a:srgbClr val="2D3436"/>
                </a:solidFill>
              </a:rPr>
              <a:t>27 source columns + 14 engineered features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2E86AB"/>
                </a:solidFill>
              </a:rPr>
              <a:t>▪  </a:t>
            </a:r>
            <a:r>
              <a:rPr sz="1300">
                <a:solidFill>
                  <a:srgbClr val="2D3436"/>
                </a:solidFill>
              </a:rPr>
              <a:t>5 campaign types, 10 channels, 6 audiences, 6 geographies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2E86AB"/>
                </a:solidFill>
              </a:rPr>
              <a:t>▪  </a:t>
            </a:r>
            <a:r>
              <a:rPr sz="1300">
                <a:solidFill>
                  <a:srgbClr val="2D3436"/>
                </a:solidFill>
              </a:rPr>
              <a:t>Full funnel: impressions → clicks → leads → conversions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2E86AB"/>
                </a:solidFill>
              </a:rPr>
              <a:t>▪  </a:t>
            </a:r>
            <a:r>
              <a:rPr sz="1300">
                <a:solidFill>
                  <a:srgbClr val="2D3436"/>
                </a:solidFill>
              </a:rPr>
              <a:t>Financials, KPIs, engagement scores and status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2E86AB"/>
                </a:solidFill>
              </a:rPr>
              <a:t>▪  </a:t>
            </a:r>
            <a:r>
              <a:rPr sz="1300">
                <a:solidFill>
                  <a:srgbClr val="2D3436"/>
                </a:solidFill>
              </a:rPr>
              <a:t>Grain: one row = one campaign (campaign_id is the primary key)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86AB"/>
                </a:solidFill>
                <a:latin typeface="Calibri"/>
              </a:rPr>
              <a:t>DATA QUALITY AFTER CLEANING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834640"/>
            <a:ext cx="5303520" cy="3063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4436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944368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RAW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9443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CLEANED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246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D3436"/>
                </a:solidFill>
                <a:latin typeface="Calibri"/>
              </a:rPr>
              <a:t>Missing values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2461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3E1D"/>
                </a:solidFill>
                <a:latin typeface="Calibri"/>
              </a:rPr>
              <a:t>2,510 cells (0.93%)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32461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4BBA4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6118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D3436"/>
                </a:solidFill>
                <a:latin typeface="Calibri"/>
              </a:rPr>
              <a:t>Duplicate rows / 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6118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3E1D"/>
                </a:solidFill>
                <a:latin typeface="Calibri"/>
              </a:rPr>
              <a:t>6 / 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4BBA4"/>
                </a:solidFill>
                <a:latin typeface="Calibri"/>
              </a:rPr>
              <a:t>0 /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977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D3436"/>
                </a:solidFill>
                <a:latin typeface="Calibri"/>
              </a:rPr>
              <a:t>Impossible negatives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9776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3E1D"/>
                </a:solidFill>
                <a:latin typeface="Calibri"/>
              </a:rPr>
              <a:t>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3977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4BBA4"/>
                </a:solidFill>
                <a:latin typeface="Calibri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343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D3436"/>
                </a:solidFill>
                <a:latin typeface="Calibri"/>
              </a:rPr>
              <a:t>Broken dates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43434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3E1D"/>
                </a:solidFill>
                <a:latin typeface="Calibri"/>
              </a:rPr>
              <a:t>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43434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4BBA4"/>
                </a:solidFill>
                <a:latin typeface="Calibr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709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D3436"/>
                </a:solidFill>
                <a:latin typeface="Calibri"/>
              </a:rPr>
              <a:t>Mis-computed ROI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47091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3E1D"/>
                </a:solidFill>
                <a:latin typeface="Calibri"/>
              </a:rPr>
              <a:t>~300 rows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4BBA4"/>
                </a:solidFill>
                <a:latin typeface="Calibri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0749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D3436"/>
                </a:solidFill>
                <a:latin typeface="Calibri"/>
              </a:rPr>
              <a:t>Non-standard labels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50749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3E1D"/>
                </a:solidFill>
                <a:latin typeface="Calibri"/>
              </a:rPr>
              <a:t>~300 rows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50749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4BBA4"/>
                </a:solidFill>
                <a:latin typeface="Calibri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4406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D3436"/>
                </a:solidFill>
                <a:latin typeface="Calibri"/>
              </a:rPr>
              <a:t>Outliers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54406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3E1D"/>
                </a:solidFill>
                <a:latin typeface="Calibri"/>
              </a:rPr>
              <a:t>6,974 observations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5560" y="5440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4BBA4"/>
                </a:solidFill>
                <a:latin typeface="Calibri"/>
              </a:rPr>
              <a:t>winsorised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Campaign Type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Average ROI by campaign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07</a:t>
            </a:r>
          </a:p>
        </p:txBody>
      </p:sp>
      <p:pic>
        <p:nvPicPr>
          <p:cNvPr id="7" name="Picture 6" descr="01_roi_by_campaign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821912" cy="4526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18120" y="1234440"/>
            <a:ext cx="3913632" cy="4526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3898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83080"/>
            <a:ext cx="3529584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Retention leads at 203.9% average ROI — double the portfolio average of 100.4%.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Conversion (156.5%) and Lead Generation (145.3%) follow closely.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Re-engagement returns only 44.1% — below break-even territory.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Brand Awareness destroys value at −50.8%: $39.9M spent, $21.2M returned — a $18.7M loss.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The blended ROI is dragged down almost entirely by the two weakest types.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Channel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ROI, conversion rate and CTR by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08</a:t>
            </a:r>
          </a:p>
        </p:txBody>
      </p:sp>
      <p:pic>
        <p:nvPicPr>
          <p:cNvPr id="7" name="Picture 6" descr="02_channel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911263" cy="4526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18120" y="1234440"/>
            <a:ext cx="3913632" cy="4526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3898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83080"/>
            <a:ext cx="3529584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SEO (191.7%), Email (185.8%) and Affiliate (185.4%) dominate on ROI.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Instagram Ads (23.1%), Social Media (24.1%) and YouTube (33.6%) trail badly.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Google Ads (1.76%) and Content Marketing (1.45%) lead on conversion rate.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Google Ads wins on CTR (4.11%) yet ranks only 5th on ROI — clicks ≠ value.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Instagram carries the highest CAC ($406) despite a mid-range CPC of $1.31.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Budget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Budget allocated vs revenue generated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09</a:t>
            </a:r>
          </a:p>
        </p:txBody>
      </p:sp>
      <p:pic>
        <p:nvPicPr>
          <p:cNvPr id="7" name="Picture 6" descr="05_budget_vs_revenu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476180" cy="4526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18120" y="1234440"/>
            <a:ext cx="3913632" cy="4526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3898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83080"/>
            <a:ext cx="3529584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Budget and revenue correlate only moderately (r = 0.55).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Power-law fit gives a budget elasticity of ≈ 0.70 — diminishing returns.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Micro and Small campaigns cluster above the break-even line.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Several Large campaigns sit well below it — scale is not a success factor.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Budget tier ROI falls from 115.9% (Micro) to 66.8% (Large).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Geographic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Average ROI and total revenue by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09_geographic_roi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476180" cy="4526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18120" y="1234440"/>
            <a:ext cx="3913632" cy="4526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3898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83080"/>
            <a:ext cx="3529584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North America (121.6%) and Europe (111.7%) are the strongest regions.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Together they generate $232M of the $389M total revenue.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Africa (51.8%) and the Middle East (71.2%) are weakest, with the lowest profitability.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CAC is flat across regions ($258–$279) — the gap is revenue per acquisition.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Latin America is a credible third market: 81.7% ROI at below-average CAC.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Audience Segment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ROI, CTR, conversion rate and engagement by 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10_audience_segme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9429750" cy="4526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18120" y="1234440"/>
            <a:ext cx="3913632" cy="4526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3898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83080"/>
            <a:ext cx="3529584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Mid-Age 35-50 (167.5%) and Professionals 25-35 (152.5%) are the sweet spot.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They also carry the lowest CAC — $218 and $226 respectively.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Students (7.5%) and Young Adults (38.9%) are weakest, with the highest CAC.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Parents (109.3%) sit above the portfolio average — a strong third segment.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CTR is flat across all segments (~2.0%): audiences differ after the click.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Seasonal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Average ROI by quarter and campaign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11_seasonal_campaig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395882" cy="4526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18120" y="1234440"/>
            <a:ext cx="3913632" cy="4526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3898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83080"/>
            <a:ext cx="3529584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Q2 (106.3%) is the best quarter, marginally ahead of Q3 (103.7%).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Q1 (94.7%) and Q4 (96.4%) are the weakest quarters.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Retention is the best type in every quarter — its advantage is structural.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Brand Awareness is negative in all four quarters and worst in Q1.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Quarter effects are ±10 points; campaign type effects are 10× larger.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Top Performing 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The ten highest-ROI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06_top10_campaigns_by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160361" cy="4526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18120" y="1234440"/>
            <a:ext cx="3913632" cy="4526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3898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83080"/>
            <a:ext cx="3529584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Every top-10 campaign is a Retention or Conversion campaign.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All are small-to-mid budget: $2.8K to $13.3K.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Several returned 3,000–10,000% ROI on a few thousand dollars.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Winners span 7 different channels — fit, not channel, drives success.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These are the obvious scaling candidates: replicate the mechanic, not the budget.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Underperforming 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Root-cause analysis of the loss-making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645587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2645587" cy="6400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62456"/>
            <a:ext cx="26455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LOSS-MAKING CAMPAIGNS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36776"/>
            <a:ext cx="264558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73E1D"/>
                </a:solidFill>
                <a:latin typeface="Calibri"/>
              </a:rPr>
              <a:t>4,660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9675" y="1234440"/>
            <a:ext cx="2645587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9675" y="1234440"/>
            <a:ext cx="2645587" cy="6400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9675" y="1362456"/>
            <a:ext cx="26455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SHARE OF 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675" y="1636776"/>
            <a:ext cx="264558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73E1D"/>
                </a:solidFill>
                <a:latin typeface="Calibri"/>
              </a:rPr>
              <a:t>46.6%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0" y="1234440"/>
            <a:ext cx="2645587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6430" y="1234440"/>
            <a:ext cx="2645587" cy="6400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6430" y="1362456"/>
            <a:ext cx="26455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SPEND WITH NO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6430" y="1636776"/>
            <a:ext cx="264558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73E1D"/>
                </a:solidFill>
                <a:latin typeface="Calibri"/>
              </a:rPr>
              <a:t>$86M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185" y="1234440"/>
            <a:ext cx="2645587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185" y="1234440"/>
            <a:ext cx="2645587" cy="6400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185" y="1362456"/>
            <a:ext cx="26455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MEDIAN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185" y="1636776"/>
            <a:ext cx="264558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18F01"/>
                </a:solidFill>
                <a:latin typeface="Calibri"/>
              </a:rPr>
              <a:t>11.5%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5146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86AB"/>
                </a:solidFill>
                <a:latin typeface="Calibri"/>
              </a:rPr>
              <a:t>WORST 8 CAMPAIGNS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34640"/>
            <a:ext cx="6766560" cy="3108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443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CAMPAIGN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9443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9443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9443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E72"/>
                </a:solidFill>
                <a:latin typeface="Calibri"/>
              </a:rPr>
              <a:t>ROI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2735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Flash Sale Brand Awareness - Insta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2735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Instagram 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2735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Brand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2735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73E1D"/>
                </a:solidFill>
                <a:latin typeface="Calibri"/>
              </a:rPr>
              <a:t>-99.2%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935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Webinar Win-back - YouTube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35935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YouTube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35935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Re-engagement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5935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73E1D"/>
                </a:solidFill>
                <a:latin typeface="Calibri"/>
              </a:rPr>
              <a:t>-99.2%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913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Webinar Brand Awareness - Social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39136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Social Media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3913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Brand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9136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73E1D"/>
                </a:solidFill>
                <a:latin typeface="Calibri"/>
              </a:rPr>
              <a:t>-99.0%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2336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Black Friday Brand Awareness - Fac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42336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Facebook Ads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4233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Brand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42336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73E1D"/>
                </a:solidFill>
                <a:latin typeface="Calibri"/>
              </a:rPr>
              <a:t>-98.9%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5537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New Year Brand Awareness - Faceboo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45537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Facebook Ads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45537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Brand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45537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73E1D"/>
                </a:solidFill>
                <a:latin typeface="Calibri"/>
              </a:rPr>
              <a:t>-98.8%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8737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Evergreen Brand Awareness - Instag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60" y="48737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Instagram Ads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48737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Brand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48737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73E1D"/>
                </a:solidFill>
                <a:latin typeface="Calibri"/>
              </a:rPr>
              <a:t>-98.8%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1937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Spring Brand Awareness - Email 202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51937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Email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2040" y="51937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Brand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51937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73E1D"/>
                </a:solidFill>
                <a:latin typeface="Calibri"/>
              </a:rPr>
              <a:t>-98.8%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5138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Newsletter Brand Awareness - YouTu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4760" y="55138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Email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2040" y="55138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D3436"/>
                </a:solidFill>
                <a:latin typeface="Calibri"/>
              </a:rPr>
              <a:t>Brand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06440" y="55138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73E1D"/>
                </a:solidFill>
                <a:latin typeface="Calibri"/>
              </a:rPr>
              <a:t>-98.7%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25146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86AB"/>
                </a:solidFill>
                <a:latin typeface="Calibri"/>
              </a:rPr>
              <a:t>ROOT CAUSES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834640"/>
            <a:ext cx="406908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Awareness and re-engagement objectives with no revenue mechanism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Paid-social channels with high CAC and poor post-click conversion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Students / Young Adults audiences that click but do not buy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Spend continued on Cancelled and Paused campaigns (23% / 58% utilisation)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2E86AB"/>
                </a:solidFill>
              </a:rPr>
              <a:t>▪  </a:t>
            </a:r>
            <a:r>
              <a:rPr sz="1250">
                <a:solidFill>
                  <a:srgbClr val="2D3436"/>
                </a:solidFill>
              </a:rPr>
              <a:t>No CAC guardrail — campaigns ran despite negative unit economics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Key Findings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Ten evidence-backed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73152" cy="8412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71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1. Retention is the best campaign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916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203.9% average ROI, best in all four quarters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67712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67712"/>
            <a:ext cx="73152" cy="8412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3591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2. Brand Awareness destroys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791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−50.8% ROI; $39.9M spend returns $21.2M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55264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55264"/>
            <a:ext cx="73152" cy="8412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3467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3. Owned and earned media 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66674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SEO 191.7%, Email 185.8%, Affiliate 185.4%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42816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42816"/>
            <a:ext cx="73152" cy="841248"/>
          </a:xfrm>
          <a:prstGeom prst="rect">
            <a:avLst/>
          </a:prstGeom>
          <a:solidFill>
            <a:srgbClr val="44B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3342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4. CAC is the master variable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65429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Strongest negative correlate of ROI (r = −0.30)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30368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230368"/>
            <a:ext cx="73152" cy="84124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218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5. Nearly half of all campaigns lose money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418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46.6% negative ROI; median ROI only 11.5%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280160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280160"/>
            <a:ext cx="73152" cy="8412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1371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6. Diminishing returns to budget are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16916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Elasticity ≈ 0.70; budget vs ROI r ≈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267712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267712"/>
            <a:ext cx="73152" cy="841248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3591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7. Top performers are small and precise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26791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Top 10 are all $2.8K–$13.3K Retention/Conversion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255264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255264"/>
            <a:ext cx="73152" cy="84124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33467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8. Mid-Age and Professionals are the sweet spot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66674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167.5% / 152.5% ROI with the lowest CAC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242816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242816"/>
            <a:ext cx="73152" cy="841248"/>
          </a:xfrm>
          <a:prstGeom prst="rect">
            <a:avLst/>
          </a:prstGeom>
          <a:solidFill>
            <a:srgbClr val="44B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3342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9. Duration is not a performance lever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65429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r ≈ 0.00 across every duration bucket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230368"/>
            <a:ext cx="548640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230368"/>
            <a:ext cx="73152" cy="84124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53218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3436"/>
                </a:solidFill>
                <a:latin typeface="Calibri"/>
              </a:rPr>
              <a:t>10. Efficiency has been flat for three years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56418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ROI 98.8% → 92.1% → 97.1%; CAC $261 → $270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Eight actions, prioritised by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402336" cy="402336"/>
          </a:xfrm>
          <a:prstGeom prst="rect">
            <a:avLst/>
          </a:prstGeom>
          <a:solidFill>
            <a:srgbClr val="44B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527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3436"/>
                </a:solidFill>
                <a:latin typeface="Calibri"/>
              </a:rPr>
              <a:t>Rebalance the campaign-type 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271016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Shift ~15% of Brand Awareness budget into Retention and Conversion — several million dollars of incremental profit with no extra spend.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65376"/>
            <a:ext cx="402336" cy="402336"/>
          </a:xfrm>
          <a:prstGeom prst="rect">
            <a:avLst/>
          </a:prstGeom>
          <a:solidFill>
            <a:srgbClr val="44B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8366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3436"/>
                </a:solidFill>
                <a:latin typeface="Calibri"/>
              </a:rPr>
              <a:t>Cap or re-purpose Brand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901952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Hold it to reach and recall KPIs, or cap it as a fixed brand-building line. It currently loses ~$22.6M.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96312"/>
            <a:ext cx="402336" cy="402336"/>
          </a:xfrm>
          <a:prstGeom prst="rect">
            <a:avLst/>
          </a:prstGeom>
          <a:solidFill>
            <a:srgbClr val="44B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6946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146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3436"/>
                </a:solidFill>
                <a:latin typeface="Calibri"/>
              </a:rPr>
              <a:t>Move paid-social budget to SEO, Email and Affiliate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32888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These combine the highest ROI with the lowest CAC; reduce Instagram and Influencer to test-level budgets.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27248"/>
            <a:ext cx="402336" cy="402336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14553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3436"/>
                </a:solidFill>
                <a:latin typeface="Calibri"/>
              </a:rPr>
              <a:t>Manage to CAC, not CPC or CTR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163824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CAC predicts return; CPC and CTR do not. Make CAC the primary optimisation target in every channel review.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58184"/>
            <a:ext cx="402336" cy="402336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3133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7647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3436"/>
                </a:solidFill>
                <a:latin typeface="Calibri"/>
              </a:rPr>
              <a:t>Concentrate spend on the two leading audiences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79476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Reallocate Students and Young Adults budget, or rebuild their post-click experience before spending more.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9120"/>
            <a:ext cx="402336" cy="402336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46227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0740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3436"/>
                </a:solidFill>
                <a:latin typeface="Calibri"/>
              </a:rPr>
              <a:t>Release incremental budget only to winners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425696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With elasticity ≈ 0.70, scale campaigns already above break-even in small increments.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20056"/>
            <a:ext cx="402336" cy="402336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9320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03834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3436"/>
                </a:solidFill>
                <a:latin typeface="Calibri"/>
              </a:rPr>
              <a:t>Triage the 4,660 loss-making campaigns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056632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Diagnose targeting, creative, offer or channel, then pause, fix or reallocate — the largest single profit pool.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650992"/>
            <a:ext cx="402336" cy="402336"/>
          </a:xfrm>
          <a:prstGeom prst="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2414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692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3436"/>
                </a:solidFill>
                <a:latin typeface="Calibri"/>
              </a:rPr>
              <a:t>Report medians, not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687568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6E72"/>
                </a:solidFill>
                <a:latin typeface="Calibri"/>
              </a:rPr>
              <a:t>Median ROI is 11.5% against a mean of 100.4%. Average-based dashboards flatter performance and hide the losers.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Dashboard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6EAF8"/>
                </a:solidFill>
                <a:latin typeface="Calibri"/>
              </a:rPr>
              <a:t>The four CampaignPulse Tableau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560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D6EAF8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40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execut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289304"/>
            <a:ext cx="5330952" cy="3024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3319271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01 Executive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440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channel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289304"/>
            <a:ext cx="5330952" cy="29659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73368" y="3319271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02 Channel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0480"/>
            <a:ext cx="5440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_campaign_deep_d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895344"/>
            <a:ext cx="5330952" cy="30241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" y="5925311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03 Campaign Deep Dive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840480"/>
            <a:ext cx="5440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_roi_tre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3895344"/>
            <a:ext cx="5330952" cy="300956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73368" y="5925311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6AB"/>
                </a:solidFill>
                <a:latin typeface="Calibri"/>
              </a:rPr>
              <a:t>04 ROI Trends &amp;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CampaignPulse  |  Marketing Campaign ROI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E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64008"/>
          </a:xfrm>
          <a:prstGeom prst="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6EAF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BD7EA"/>
                </a:solidFill>
                <a:latin typeface="Calibri"/>
              </a:rPr>
              <a:t>Amit Kumar Jha  ·  Data Analyst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BBD7EA"/>
                </a:solidFill>
                <a:latin typeface="Calibri"/>
              </a:rPr>
              <a:t>GitHub: github.com/AmitKumarJha-ds/marketing-campaign-roi-analytics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BBD7EA"/>
                </a:solidFill>
                <a:latin typeface="Calibri"/>
              </a:rPr>
              <a:t>Appendix: reports/reports/CampaignPulse_Marketing_Campaign_ROI_Report.pdf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BBD7EA"/>
                </a:solidFill>
                <a:latin typeface="Calibri"/>
              </a:rPr>
              <a:t>Data dictionary: docs/data_dictionary.md  ·  SQL: sql/03_business_queries.sql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C5DD"/>
                </a:solidFill>
                <a:latin typeface="Calibri"/>
              </a:rPr>
              <a:t>⭐ If you found this project helpful, please star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